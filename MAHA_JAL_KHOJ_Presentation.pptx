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22860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ctr"/>
            <a:r>
              <a:rPr sz="1200" b="1">
                <a:solidFill>
                  <a:srgbClr val="38BDF8"/>
                </a:solidFill>
              </a:rPr>
              <a:t>PROJECT ID: PRJ-2026-MH01  |  CAPSTONE PROJECT PRESENTATION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MAHA JAL KHOJ (महा जल खोज)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2E8F0"/>
                </a:solidFill>
              </a:rPr>
              <a:t>Next-Generation Groundwater Intelligence &amp; Spatially-Weighted AI Forecasting Command Center for Maharashtra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685800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/>
            <a:r>
              <a:rPr sz="1400" b="1">
                <a:solidFill>
                  <a:srgbClr val="38BDF8"/>
                </a:solidFill>
              </a:rPr>
              <a:t>GROUP MEMBERS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474720"/>
          <a:ext cx="6492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45920"/>
                <a:gridCol w="2194560"/>
                <a:gridCol w="1645920"/>
              </a:tblGrid>
              <a:tr h="51206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38BDF8"/>
                          </a:solidFill>
                        </a:rPr>
                        <a:t>Roll No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38BDF8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38BDF8"/>
                          </a:solidFill>
                        </a:rPr>
                        <a:t>Email ID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38BDF8"/>
                          </a:solidFill>
                        </a:rPr>
                        <a:t>Mobile No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Roll No: 01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Ved Songire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vedvscoder@gmail.com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+91 9XXXXXXXXX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Roll No: 02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[Member 2 Name]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member2@example.com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+91 9XXXXXXXXX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Roll No: 03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[Member 3 Name]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member3@example.com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+91 9XXXXXXXXX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Roll No: 04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[Member 4 Name]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member4@example.com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+91 9XXXXXXXXX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3017520"/>
            <a:ext cx="3687775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/>
            <a:r>
              <a:rPr sz="1300" b="1">
                <a:solidFill>
                  <a:srgbClr val="818CF8"/>
                </a:solidFill>
              </a:rPr>
              <a:t>UNDER THE GUIDANCE OF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FFFFF"/>
                </a:solidFill>
              </a:rPr>
              <a:t>Prof. [Guide Name] </a:t>
            </a:r>
            <a:r>
              <a:rPr sz="1200">
                <a:solidFill>
                  <a:srgbClr val="E2E8F0"/>
                </a:solidFill>
              </a:rPr>
              <a:t>M.E., Ph.D.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94A3B8"/>
                </a:solidFill>
              </a:rPr>
              <a:t>Designation: </a:t>
            </a:r>
            <a:r>
              <a:rPr sz="1000">
                <a:solidFill>
                  <a:srgbClr val="E2E8F0"/>
                </a:solidFill>
              </a:rPr>
              <a:t>Assistant / Associate Professor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94A3B8"/>
                </a:solidFill>
              </a:rPr>
              <a:t>Department: </a:t>
            </a:r>
            <a:r>
              <a:rPr sz="1000">
                <a:solidFill>
                  <a:srgbClr val="E2E8F0"/>
                </a:solidFill>
              </a:rPr>
              <a:t>Computer Engineering / IT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94A3B8"/>
                </a:solidFill>
              </a:rPr>
              <a:t>Institution: </a:t>
            </a:r>
            <a:r>
              <a:rPr sz="1000">
                <a:solidFill>
                  <a:srgbClr val="E2E8F0"/>
                </a:solidFill>
              </a:rPr>
              <a:t>[College / University Name]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94A3B8"/>
                </a:solidFill>
              </a:rPr>
              <a:t>Academic Year: </a:t>
            </a:r>
            <a:r>
              <a:rPr sz="1000">
                <a:solidFill>
                  <a:srgbClr val="E2E8F0"/>
                </a:solidFill>
              </a:rPr>
              <a:t>2025 - 2026</a:t>
            </a:r>
          </a:p>
          <a:p>
            <a:pPr>
              <a:spcBef>
                <a:spcPts val="1000"/>
              </a:spcBef>
            </a:pPr>
            <a:r>
              <a:rPr b="1" sz="950">
                <a:solidFill>
                  <a:srgbClr val="38BDF8"/>
                </a:solidFill>
              </a:rPr>
              <a:t>GitHub Repository: </a:t>
            </a:r>
            <a:r>
              <a:rPr sz="950">
                <a:solidFill>
                  <a:srgbClr val="E2E8F0"/>
                </a:solidFill>
              </a:rPr>
              <a:t>github.com/vedsongire/MAHA_JAL_KHOJ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[OVERVIEW]  </a:t>
            </a:r>
            <a:r>
              <a:rPr sz="2000" b="1">
                <a:solidFill>
                  <a:srgbClr val="FFFFFF"/>
                </a:solidFill>
              </a:rPr>
              <a:t>Introduction to the Project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Context, Telemetry Big Data &amp; Core Research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02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The Groundwater Crisis in Maharashtra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43F5E"/>
                </a:solidFill>
              </a:rPr>
              <a:t>Hydrogeology &amp; Vulnerability Context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Deccan Basalt Geology: </a:t>
            </a:r>
            <a:r>
              <a:rPr sz="1100">
                <a:solidFill>
                  <a:srgbClr val="E2E8F0"/>
                </a:solidFill>
              </a:rPr>
              <a:t>Over 82% of Maharashtra is underlain by hard-rock Deccan Traps with low primary porosity, yielding shallow unconfined aquifers with fast drawdown.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Pre-Monsoon Depletion: </a:t>
            </a:r>
            <a:r>
              <a:rPr sz="1100">
                <a:solidFill>
                  <a:srgbClr val="E2E8F0"/>
                </a:solidFill>
              </a:rPr>
              <a:t>Summers see extreme stress across Marathwada and Vidarbha where water tables plunge beyond 15–20 meters bgl, causing severe borewell dry-outs.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Erratic Monsoon Cycle: </a:t>
            </a:r>
            <a:r>
              <a:rPr sz="1100">
                <a:solidFill>
                  <a:srgbClr val="E2E8F0"/>
                </a:solidFill>
              </a:rPr>
              <a:t>80–90% of annual recharge occurs within 4 monsoon months (June–September), followed by 8 months of aggressive extraction for cash crops (sugarcane/cotton).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Need for Proactive Intelligence: </a:t>
            </a:r>
            <a:r>
              <a:rPr sz="1100">
                <a:solidFill>
                  <a:srgbClr val="E2E8F0"/>
                </a:solidFill>
              </a:rPr>
              <a:t>Conventional monitoring relies on manual seasonal reports released months too late, preventing timely administrative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Maha Jal Khoj Solution Overview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8BDF8"/>
                </a:solidFill>
              </a:rPr>
              <a:t>IoT Telemetry + Spatially-Weighted AI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IoT DWLR Telemetry Network: </a:t>
            </a:r>
            <a:r>
              <a:rPr sz="1100">
                <a:solidFill>
                  <a:srgbClr val="E2E8F0"/>
                </a:solidFill>
              </a:rPr>
              <a:t>Aggregates automated 6-hourly water level readings across 1,016 monitoring borewells in 34 districts and 304 tehsils (218k+ observations).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Automated Glitch Isolation: </a:t>
            </a:r>
            <a:r>
              <a:rPr sz="1100">
                <a:solidFill>
                  <a:srgbClr val="E2E8F0"/>
                </a:solidFill>
              </a:rPr>
              <a:t>Detects and isolates 9,222 uncalibrated probe disconnect codes (exact 1.000m) preventing false flood alerts.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Spatial Fairness Layer: </a:t>
            </a:r>
            <a:r>
              <a:rPr sz="1100">
                <a:solidFill>
                  <a:srgbClr val="E2E8F0"/>
                </a:solidFill>
              </a:rPr>
              <a:t>Novel Inverse Spatial Density Weighting eliminates geographic bias between dense clusters (Sangli: 92) and sparse belts (Dhule: 4).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Dual-Head XGBoost Engine: </a:t>
            </a:r>
            <a:r>
              <a:rPr sz="1100">
                <a:solidFill>
                  <a:srgbClr val="E2E8F0"/>
                </a:solidFill>
              </a:rPr>
              <a:t>Continuous depth regressor (R² = 0.992) + 5-tier CGWB risk classifier (96.7% accuracy) + 10-month recursive seasonal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[INDUSTRY MENTORSHIP]  </a:t>
            </a:r>
            <a:r>
              <a:rPr sz="2000" b="1">
                <a:solidFill>
                  <a:srgbClr val="FFFFFF"/>
                </a:solidFill>
              </a:rPr>
              <a:t>Industry Expert Interaction &amp; Guidance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Consultation Details &amp; Field Feedback Incorporated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03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Expert Profile Details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18CF8"/>
                </a:solidFill>
              </a:rPr>
              <a:t>Professional Credentials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FFFFF"/>
                </a:solidFill>
              </a:rPr>
              <a:t>Name: </a:t>
            </a:r>
            <a:r>
              <a:rPr sz="1200">
                <a:solidFill>
                  <a:srgbClr val="E2E8F0"/>
                </a:solidFill>
              </a:rPr>
              <a:t>Dr. / Er. [Industry Expert Name]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94A3B8"/>
                </a:solidFill>
              </a:rPr>
              <a:t>Designation: </a:t>
            </a:r>
            <a:r>
              <a:rPr sz="1100">
                <a:solidFill>
                  <a:srgbClr val="E2E8F0"/>
                </a:solidFill>
              </a:rPr>
              <a:t>Senior Hydrogeologist &amp; Technical Consultant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94A3B8"/>
                </a:solidFill>
              </a:rPr>
              <a:t>Organization: </a:t>
            </a:r>
            <a:r>
              <a:rPr sz="1100">
                <a:solidFill>
                  <a:srgbClr val="E2E8F0"/>
                </a:solidFill>
              </a:rPr>
              <a:t>Water Resources / GSDA Advisory / IoT Solutions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38BDF8"/>
                </a:solidFill>
              </a:rPr>
              <a:t>Email ID: </a:t>
            </a:r>
            <a:r>
              <a:rPr sz="1050">
                <a:solidFill>
                  <a:srgbClr val="E2E8F0"/>
                </a:solidFill>
              </a:rPr>
              <a:t>expert.hydro@wrd-consultancy.gov.in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38BDF8"/>
                </a:solidFill>
              </a:rPr>
              <a:t>Mobile Number: </a:t>
            </a:r>
            <a:r>
              <a:rPr sz="1050">
                <a:solidFill>
                  <a:srgbClr val="E2E8F0"/>
                </a:solidFill>
              </a:rPr>
              <a:t>+91 98XXXXXXXX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94A3B8"/>
                </a:solidFill>
              </a:rPr>
              <a:t>Domain Area: </a:t>
            </a:r>
            <a:r>
              <a:rPr sz="1050">
                <a:solidFill>
                  <a:srgbClr val="E2E8F0"/>
                </a:solidFill>
              </a:rPr>
              <a:t>Hydrogeological IoT Telemetry &amp; Aquifer Mapping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94A3B8"/>
                </a:solidFill>
              </a:rPr>
              <a:t>Consultation Mode: </a:t>
            </a:r>
            <a:r>
              <a:rPr sz="1050">
                <a:solidFill>
                  <a:srgbClr val="E2E8F0"/>
                </a:solidFill>
              </a:rPr>
              <a:t>Hybrid (Technical Review &amp; Architecture Evaluation)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Key Insights &amp; Strategic Recommendations Adopted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0B981"/>
                </a:solidFill>
              </a:rPr>
              <a:t>Domain Guidance Integrated into Pipeline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1. Identified GSDA Telemetry Artifact (1.000m): </a:t>
            </a:r>
            <a:r>
              <a:rPr sz="1100">
                <a:solidFill>
                  <a:srgbClr val="E2E8F0"/>
                </a:solidFill>
              </a:rPr>
              <a:t>The expert confirmed that exactly 1.000m readings are uncalibrated default probe disconnect codes. Filtering these eliminated 9,222 false positive 'Critical Flood' warnings.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2. Addressed Extreme Regional Station Disparity: </a:t>
            </a:r>
            <a:r>
              <a:rPr sz="1100">
                <a:solidFill>
                  <a:srgbClr val="E2E8F0"/>
                </a:solidFill>
              </a:rPr>
              <a:t>Warned that standard ML models overfit dense sugarcane belts (Sangli/Nashik: 80–92 stations) and fail on Khandesh (Dhule: 4 stations). Advised inverse spatial density balancing.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3. Temporal Baseline Correction (May vs. October): </a:t>
            </a:r>
            <a:r>
              <a:rPr sz="1100">
                <a:solidFill>
                  <a:srgbClr val="E2E8F0"/>
                </a:solidFill>
              </a:rPr>
              <a:t>Advised that presenting historical May 2026 data in October generates false drought alarms because monsoon recharge raises water levels by 5–9m. Recommended current-horizon live default.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4. Multi-Horizon Seasonal Forecasting: </a:t>
            </a:r>
            <a:r>
              <a:rPr sz="1100">
                <a:solidFill>
                  <a:srgbClr val="E2E8F0"/>
                </a:solidFill>
              </a:rPr>
              <a:t>Emphasized that water administrators need projections spanning June to March to plan irrigation canals and emergency tanker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[LITERATURE SURVEY]  </a:t>
            </a:r>
            <a:r>
              <a:rPr sz="2000" b="1">
                <a:solidFill>
                  <a:srgbClr val="FFFFFF"/>
                </a:solidFill>
              </a:rPr>
              <a:t>Review of Literature &amp; Research Gaps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Comparative Analysis of Existing Systems &amp; Publications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04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2194560"/>
                <a:gridCol w="2560320"/>
                <a:gridCol w="2468880"/>
              </a:tblGrid>
              <a:tr h="91440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Authors &amp; Reference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Year / Journal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Methodology / Tech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Key Findings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Identified Limitations / Gaps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CGWB &amp; GSDA Annual Reports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2024 / CGWB Publications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Manual tape &amp; seasonal DWLR batch tabulation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Detailed macro-level taluka vulnerability categorizations across Maharashtra.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59E0B"/>
                          </a:solidFill>
                        </a:rPr>
                        <a:t>Static PDF reports published with 6-month delay; no automated machine learning alerts.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Rahman et al.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2023 / Water Resources Mgmt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LSTM &amp; SVR on individual borehole time-series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High temporal prediction accuracy on isolated long-term observation borewells.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59E0B"/>
                          </a:solidFill>
                        </a:rPr>
                        <a:t>Ignores spatial covariates; fails when applied across clustered vs sparse regional networks.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Sharma &amp; Patel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2023 / IEEE Sensors Journal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IoT Sensor drift detection in Indian telemetry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Identified communication loss and probe uncalibration in DWLR deployments.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59E0B"/>
                          </a:solidFill>
                        </a:rPr>
                        <a:t>Only focused on hardware diagnostics; no predictive modeling or seasonal water forecasting.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Kulkarni et al.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2022 / Hydrogeology Journal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Aquifer characterization of Deccan Basalt Trap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E2E8F0"/>
                          </a:solidFill>
                        </a:rPr>
                        <a:t>Established hydraulic conductivity and seasonal specific yield in Maharashtra.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59E0B"/>
                          </a:solidFill>
                        </a:rPr>
                        <a:t>Hydrological domain study without real-time GIS decision support software or AI tools.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[VALUE PROPOSITION]  </a:t>
            </a:r>
            <a:r>
              <a:rPr sz="2000" b="1">
                <a:solidFill>
                  <a:srgbClr val="FFFFFF"/>
                </a:solidFill>
              </a:rPr>
              <a:t>Usefulness of the Project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Operational Utility Across Government, Agriculture &amp; Public Sectors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05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Drought Early Warning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43F5E"/>
                </a:solidFill>
              </a:rPr>
              <a:t>Disaster Management Authorities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Proactive Response: </a:t>
            </a:r>
            <a:r>
              <a:rPr sz="1100">
                <a:solidFill>
                  <a:srgbClr val="E2E8F0"/>
                </a:solidFill>
              </a:rPr>
              <a:t>Enables District Disaster Management Authorities (DDMA) to detect drought stress 6–10 months in advance instead of waiting for summer borewell failure.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Tanker Fleet Optimization: </a:t>
            </a:r>
            <a:r>
              <a:rPr sz="1100">
                <a:solidFill>
                  <a:srgbClr val="E2E8F0"/>
                </a:solidFill>
              </a:rPr>
              <a:t>Identifies precise Gram Panchayats needing emergency water tankers before peak heatwaves in March–May.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Artificial Recharge Sites: </a:t>
            </a:r>
            <a:r>
              <a:rPr sz="1100">
                <a:solidFill>
                  <a:srgbClr val="E2E8F0"/>
                </a:solidFill>
              </a:rPr>
              <a:t>Guides optimal locations for JalYukta Shivar check-dams and percolation tanks based on rapid drawdown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Agricultural Planning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59E0B"/>
                </a:solidFill>
              </a:rPr>
              <a:t>Farmer Advisories &amp; Irrigation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Cropping Advisory: </a:t>
            </a:r>
            <a:r>
              <a:rPr sz="1100">
                <a:solidFill>
                  <a:srgbClr val="E2E8F0"/>
                </a:solidFill>
              </a:rPr>
              <a:t>Helps agricultural extension officers advise farmers on whether available aquifer reserves can support water-intensive Rabi crops.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Irrigation Water Budgeting: </a:t>
            </a:r>
            <a:r>
              <a:rPr sz="1100">
                <a:solidFill>
                  <a:srgbClr val="E2E8F0"/>
                </a:solidFill>
              </a:rPr>
              <a:t>Prevents catastrophic tube-well failure mid-season, protecting farm investments and mitigating agricultural distress.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Power Grid Scheduling: </a:t>
            </a:r>
            <a:r>
              <a:rPr sz="1100">
                <a:solidFill>
                  <a:srgbClr val="E2E8F0"/>
                </a:solidFill>
              </a:rPr>
              <a:t>Assists MSEDCL in predicting agricultural pump power demand based on forecasted groundwater suction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Scientific Governance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0B981"/>
                </a:solidFill>
              </a:rPr>
              <a:t>GSDA &amp; Water Resources Dept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Automated Telemetry QA: </a:t>
            </a:r>
            <a:r>
              <a:rPr sz="1100">
                <a:solidFill>
                  <a:srgbClr val="E2E8F0"/>
                </a:solidFill>
              </a:rPr>
              <a:t>Automatically filters faulty sensors and flags uncalibrated hardware for physical inspection.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Sub-Meter Depth Precision: </a:t>
            </a:r>
            <a:r>
              <a:rPr sz="1100">
                <a:solidFill>
                  <a:srgbClr val="E2E8F0"/>
                </a:solidFill>
              </a:rPr>
              <a:t>Delivers continuous 0.36m MAE depth estimations for 1,016 stations without manual tape dipping.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Public Transparency: </a:t>
            </a:r>
            <a:r>
              <a:rPr sz="1100">
                <a:solidFill>
                  <a:srgbClr val="E2E8F0"/>
                </a:solidFill>
              </a:rPr>
              <a:t>Democratizes water information through an open-access, zero-license GIS command center.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[SOCIETAL BENEFITS]  </a:t>
            </a:r>
            <a:r>
              <a:rPr sz="2000" b="1">
                <a:solidFill>
                  <a:srgbClr val="FFFFFF"/>
                </a:solidFill>
              </a:rPr>
              <a:t>Social Impact of the Project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Mitigating Farmer Distress &amp; Promoting Equitable Water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06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Mitigating Rural Agrarian Distress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8BDF8"/>
                </a:solidFill>
              </a:rPr>
              <a:t>Saving Lives and Livelihoods in Drought Belts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Preventing Borewell Sinking Losses: </a:t>
            </a:r>
            <a:r>
              <a:rPr sz="1100">
                <a:solidFill>
                  <a:srgbClr val="E2E8F0"/>
                </a:solidFill>
              </a:rPr>
              <a:t>Farmers often take heavy unorganized loans (₹1–2 Lakhs) to drill deeper borewells that turn out dry. Proactive forecasting prevents futile capital expenditure.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Protecting Marathwada &amp; Vidarbha: </a:t>
            </a:r>
            <a:r>
              <a:rPr sz="1100">
                <a:solidFill>
                  <a:srgbClr val="E2E8F0"/>
                </a:solidFill>
              </a:rPr>
              <a:t>Directly addresses recurring water stress in historically vulnerable agrarian districts (Beed, Osmanabad, Jalna, Yavatmal, Akola).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Equitable Spatial Resource Allocation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18CF8"/>
                </a:solidFill>
              </a:rPr>
              <a:t>Correcting Regional Sampling Bias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Ending Neglect of Sparse Districts: </a:t>
            </a:r>
            <a:r>
              <a:rPr sz="1100">
                <a:solidFill>
                  <a:srgbClr val="E2E8F0"/>
                </a:solidFill>
              </a:rPr>
              <a:t>Standard systems prioritize heavily-monitored sugar districts (Sangli: 92 stations). Our inverse weighting guarantees equal predictive accuracy for sparse tribal districts (Dhule, Nandurbar: 4–5 stations).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Targeted Government Grants: </a:t>
            </a:r>
            <a:r>
              <a:rPr sz="1100">
                <a:solidFill>
                  <a:srgbClr val="E2E8F0"/>
                </a:solidFill>
              </a:rPr>
              <a:t>Enables equitable distribution of state groundwater recharge subsidies.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728655" cy="2286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Alignment with UN SDGs &amp; National Water Missions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0B981"/>
                </a:solidFill>
              </a:rPr>
              <a:t>Institutional Alignment &amp; Sustainability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UN Sustainable Development Goal 6 (Clean Water &amp; Sanitation): </a:t>
            </a:r>
            <a:r>
              <a:rPr sz="1100">
                <a:solidFill>
                  <a:srgbClr val="E2E8F0"/>
                </a:solidFill>
              </a:rPr>
              <a:t>Directly targets Target 6.4 (sustainable water withdrawal) and Target 6.6 (protecting water ecosystems) through scientific aquifer monitoring.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Jal Jeevan Mission (JJM): </a:t>
            </a:r>
            <a:r>
              <a:rPr sz="1100">
                <a:solidFill>
                  <a:srgbClr val="E2E8F0"/>
                </a:solidFill>
              </a:rPr>
              <a:t>Provides source sustainability intelligence to ensure tap water schemes do not run dry during post-monsoon depletion.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Atal Bhujal Yojana (ABHY): </a:t>
            </a:r>
            <a:r>
              <a:rPr sz="1100">
                <a:solidFill>
                  <a:srgbClr val="E2E8F0"/>
                </a:solidFill>
              </a:rPr>
              <a:t>Promotes community-led groundwater management by making hydrogeological data easily understandable for Gram Panchayats.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[PROJECT SCOPE]  </a:t>
            </a:r>
            <a:r>
              <a:rPr sz="2000" b="1">
                <a:solidFill>
                  <a:srgbClr val="FFFFFF"/>
                </a:solidFill>
              </a:rPr>
              <a:t>Specific Objectives Defined for the Project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Core Technical &amp; Engineering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07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200">
                <a:solidFill>
                  <a:srgbClr val="38BDF8"/>
                </a:solidFill>
              </a:rPr>
              <a:t>Obj 1: Automated Telemetry Ingestion &amp; Error Filtering : </a:t>
            </a:r>
            <a:r>
              <a:rPr sz="1000">
                <a:solidFill>
                  <a:srgbClr val="E2E8F0"/>
                </a:solidFill>
              </a:rPr>
              <a:t>Ingest 6-hourly telemetry data across 1,016 DWLR stations; isolate 9,222 uncalibrated '1.000m' dummy probe codes; standardize sign conventions into true Depth Below Ground Level (Depth_mbgl).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728655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200">
                <a:solidFill>
                  <a:srgbClr val="818CF8"/>
                </a:solidFill>
              </a:rPr>
              <a:t>Obj 2: Formulate Inverse Spatial Density Balancing Layer : </a:t>
            </a:r>
            <a:r>
              <a:rPr sz="1000">
                <a:solidFill>
                  <a:srgbClr val="E2E8F0"/>
                </a:solidFill>
              </a:rPr>
              <a:t>Eliminate extreme sampling disparities (23x ratio between Sangli and Dhule) by formulating sample weight W_i = 1 / N_district, ensuring sparse districts maintain &gt;85% predictive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728655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200">
                <a:solidFill>
                  <a:srgbClr val="10B981"/>
                </a:solidFill>
              </a:rPr>
              <a:t>Obj 3: Train Dual-Head XGBoost Machine Learning Engine : </a:t>
            </a:r>
            <a:r>
              <a:rPr sz="1000">
                <a:solidFill>
                  <a:srgbClr val="E2E8F0"/>
                </a:solidFill>
              </a:rPr>
              <a:t>Engineer 12 multi-modal spatio-temporal and hydrological lag features; train XGBRegressor for continuous sub-meter depth and XGBClassifier for 5-tier CGWB risk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10728655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200">
                <a:solidFill>
                  <a:srgbClr val="F59E0B"/>
                </a:solidFill>
              </a:rPr>
              <a:t>Obj 4: Build 10-Month Recursive Seasonal Forecaster : </a:t>
            </a:r>
            <a:r>
              <a:rPr sz="1000">
                <a:solidFill>
                  <a:srgbClr val="E2E8F0"/>
                </a:solidFill>
              </a:rPr>
              <a:t>Develop a 43-week recursive projection engine simulating Southwest Monsoon recharge (June–September) and dry season depletion through March 2027.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200">
                <a:solidFill>
                  <a:srgbClr val="F43F5E"/>
                </a:solidFill>
              </a:rPr>
              <a:t>Obj 5: Deploy Real-Time Operational GIS Command Center : </a:t>
            </a:r>
            <a:r>
              <a:rPr sz="1000">
                <a:solidFill>
                  <a:srgbClr val="E2E8F0"/>
                </a:solidFill>
              </a:rPr>
              <a:t>Engineer a production-grade FastAPI REST API and interactive Leaflet dark-canvas GIS interface with station hydrographs and a pinned real-time Critical Alerts Feed.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[REQUIREMENTS]  </a:t>
            </a:r>
            <a:r>
              <a:rPr sz="2000" b="1">
                <a:solidFill>
                  <a:srgbClr val="FFFFFF"/>
                </a:solidFill>
              </a:rPr>
              <a:t>Resources Needed (Hardware &amp; Software)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Complete System Architecture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08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Hardware Requirements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8BDF8"/>
                </a:solidFill>
              </a:rPr>
              <a:t>Compute &amp; Telemetry Infrastructure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Processing Workstation / Server: </a:t>
            </a:r>
            <a:r>
              <a:rPr sz="1100">
                <a:solidFill>
                  <a:srgbClr val="E2E8F0"/>
                </a:solidFill>
              </a:rPr>
              <a:t>Multi-Core CPU (Intel Core i7 / AMD Ryzen 7, 8+ physical cores) for parallelized tree boosting and dataset transforms.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Memory (RAM): </a:t>
            </a:r>
            <a:r>
              <a:rPr sz="1100">
                <a:solidFill>
                  <a:srgbClr val="E2E8F0"/>
                </a:solidFill>
              </a:rPr>
              <a:t>Minimum 16 GB DDR4/DDR5 RAM to handle in-memory time-series joins, rolling window operations, and cross-validation folds.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Storage: </a:t>
            </a:r>
            <a:r>
              <a:rPr sz="1100">
                <a:solidFill>
                  <a:srgbClr val="E2E8F0"/>
                </a:solidFill>
              </a:rPr>
              <a:t>512 GB NVMe SSD for fast random read/write of 218k+ telemetry records, serialized model bundles, and GIS vector tiles.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Field IoT DWLR Hardware: </a:t>
            </a:r>
            <a:r>
              <a:rPr sz="1100">
                <a:solidFill>
                  <a:srgbClr val="E2E8F0"/>
                </a:solidFill>
              </a:rPr>
              <a:t>Submersible piezometric pressure transducers, automated dataloggers, and solar-powered GSM/GPRS telemetry transmitters.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Software Requirements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0B981"/>
                </a:solidFill>
              </a:rPr>
              <a:t>Languages, Frameworks &amp; Libraries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Programming Language: </a:t>
            </a:r>
            <a:r>
              <a:rPr sz="1100">
                <a:solidFill>
                  <a:srgbClr val="E2E8F0"/>
                </a:solidFill>
              </a:rPr>
              <a:t>Python 3.10+ (Core backend, ML pipeline, feature engineering, and automated evaluation).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Machine Learning Framework: </a:t>
            </a:r>
            <a:r>
              <a:rPr sz="1100">
                <a:solidFill>
                  <a:srgbClr val="E2E8F0"/>
                </a:solidFill>
              </a:rPr>
              <a:t>XGBoost 2.0+ (Histogram-optimized gradient boosting) and Scikit-Learn 1.4+ (metrics, train-test splitting, data encoders).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Backend REST Web Server: </a:t>
            </a:r>
            <a:r>
              <a:rPr sz="1100">
                <a:solidFill>
                  <a:srgbClr val="E2E8F0"/>
                </a:solidFill>
              </a:rPr>
              <a:t>FastAPI 0.110+ and Uvicorn 0.28+ asynchronous ASGI web server for sub-10ms endpoint response latencies.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GIS &amp; Data Visualization: </a:t>
            </a:r>
            <a:r>
              <a:rPr sz="1100">
                <a:solidFill>
                  <a:srgbClr val="E2E8F0"/>
                </a:solidFill>
              </a:rPr>
              <a:t>Leaflet.js 1.9+, Chart.js 4.4, Matplotlib 3.8+, Seaborn 0.13+, and ESRI World Dark Canvas cartography.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[RESOURCES]  </a:t>
            </a:r>
            <a:r>
              <a:rPr sz="2000" b="1">
                <a:solidFill>
                  <a:srgbClr val="FFFFFF"/>
                </a:solidFill>
              </a:rPr>
              <a:t>Resources Available (Hardware &amp; Software)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Existing Assets &amp; Operational Stack Employed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09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Hardware Available in Lab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8BDF8"/>
                </a:solidFill>
              </a:rPr>
              <a:t>Verified Working Environment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Development Rig: </a:t>
            </a:r>
            <a:r>
              <a:rPr sz="1100">
                <a:solidFill>
                  <a:srgbClr val="E2E8F0"/>
                </a:solidFill>
              </a:rPr>
              <a:t>Intel 64-bit multi-core computing platform with active virtualization and parallel execution threads.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Memory &amp; Storage Capacity: </a:t>
            </a:r>
            <a:r>
              <a:rPr sz="1100">
                <a:solidFill>
                  <a:srgbClr val="E2E8F0"/>
                </a:solidFill>
              </a:rPr>
              <a:t>16 GB High-Speed RAM and 1 TB High-Throughput NVMe Solid State Drive.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Network Connectivity: </a:t>
            </a:r>
            <a:r>
              <a:rPr sz="1100">
                <a:solidFill>
                  <a:srgbClr val="E2E8F0"/>
                </a:solidFill>
              </a:rPr>
              <a:t>High-speed broadband connection for remote tile streaming and package repository synchronization.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Version Control Station: </a:t>
            </a:r>
            <a:r>
              <a:rPr sz="1100">
                <a:solidFill>
                  <a:srgbClr val="E2E8F0"/>
                </a:solidFill>
              </a:rPr>
              <a:t>Local Git repository linked to GitHub remote for continuous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Software &amp; Datasets Available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18CF8"/>
                </a:solidFill>
              </a:rPr>
              <a:t>Configured and Operating in Project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Telemetry Dataset: </a:t>
            </a:r>
            <a:r>
              <a:rPr sz="1100">
                <a:solidFill>
                  <a:srgbClr val="E2E8F0"/>
                </a:solidFill>
              </a:rPr>
              <a:t>Real-world GSDA/CGWB telemetry dataset: 218,791 observations from 1,016 DWLR stations spanning Jan–May 2026.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Production ML Bundle: </a:t>
            </a:r>
            <a:r>
              <a:rPr sz="1100">
                <a:solidFill>
                  <a:srgbClr val="E2E8F0"/>
                </a:solidFill>
              </a:rPr>
              <a:t>Trained model artifact `models/groundwater_ml_bundle.joblib` (3.5 MB) containing regressor, classifier, and spatial weights.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Active Codebase: </a:t>
            </a:r>
            <a:r>
              <a:rPr sz="1100">
                <a:solidFill>
                  <a:srgbClr val="E2E8F0"/>
                </a:solidFill>
              </a:rPr>
              <a:t>Full FastAPI web server (`server.py`), recursive forecaster (`forecast_10_months.py`), and GIS frontend (`static/`, `templates/`).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GitHub Repository: </a:t>
            </a:r>
            <a:r>
              <a:rPr sz="1100">
                <a:solidFill>
                  <a:srgbClr val="E2E8F0"/>
                </a:solidFill>
              </a:rPr>
              <a:t>https://github.com/vedsongire/MAHA_JAL_KHOJ (fully synchronized on branch `main`).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[CONSTRAINTS]  </a:t>
            </a:r>
            <a:r>
              <a:rPr sz="2000" b="1">
                <a:solidFill>
                  <a:srgbClr val="FFFFFF"/>
                </a:solidFill>
              </a:rPr>
              <a:t>Resources Not Available (Hardware &amp; Software)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Project Constraints &amp; How They Were Mitigated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10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Hardware Constraints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59E0B"/>
                </a:solidFill>
              </a:rPr>
              <a:t>Field Limitations &amp; Workarounds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Live Physical NB-IoT Stream: </a:t>
            </a:r>
            <a:r>
              <a:rPr sz="1100">
                <a:solidFill>
                  <a:srgbClr val="E2E8F0"/>
                </a:solidFill>
              </a:rPr>
              <a:t>Direct real-time streaming directly from hardware SIMs in field borewells is restricted to government intranets.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-&gt; Mitigation Strategy: </a:t>
            </a:r>
            <a:r>
              <a:rPr sz="1100">
                <a:solidFill>
                  <a:srgbClr val="E2E8F0"/>
                </a:solidFill>
              </a:rPr>
              <a:t>Utilized official 6-hourly telemetry batch records and designed the FastAPI ingestion pipeline to seamlessly accept live webhook payloads.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Dedicated GPU Cluster: </a:t>
            </a:r>
            <a:r>
              <a:rPr sz="1100">
                <a:solidFill>
                  <a:srgbClr val="E2E8F0"/>
                </a:solidFill>
              </a:rPr>
              <a:t>High-cost GPU servers (NVIDIA A100/H100) are not available in academic lab settings.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-&gt; Mitigation Strategy: </a:t>
            </a:r>
            <a:r>
              <a:rPr sz="1100">
                <a:solidFill>
                  <a:srgbClr val="E2E8F0"/>
                </a:solidFill>
              </a:rPr>
              <a:t>Utilized XGBoost's high-efficiency histogram tree boosting algorithm (`tree_method='hist'`), enabling full model retraining in under 8 seconds on CPU.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Software &amp; Sensor Density Constraints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43F5E"/>
                </a:solidFill>
              </a:rPr>
              <a:t>Overcoming External Bottlenecks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Sparse Sensor Installation Budget: </a:t>
            </a:r>
            <a:r>
              <a:rPr sz="1100">
                <a:solidFill>
                  <a:srgbClr val="E2E8F0"/>
                </a:solidFill>
              </a:rPr>
              <a:t>Government DWLR installations in tribal/remote districts are severely constrained (Dhule has only 4 stations funded vs. 92 in Sangli).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-&gt; Mitigation Strategy: </a:t>
            </a:r>
            <a:r>
              <a:rPr sz="1100">
                <a:solidFill>
                  <a:srgbClr val="E2E8F0"/>
                </a:solidFill>
              </a:rPr>
              <a:t>Engineered the novel Inverse Spatial Density Balancing Layer, boosting gradient attention on sparse stations by up to 8.94x.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Commercial GIS Licenses: </a:t>
            </a:r>
            <a:r>
              <a:rPr sz="1100">
                <a:solidFill>
                  <a:srgbClr val="E2E8F0"/>
                </a:solidFill>
              </a:rPr>
              <a:t>Proprietary GIS suites (ArcGIS Enterprise, Google Maps Platform) require expensive recurring enterprise licenses.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-&gt; Mitigation Strategy: </a:t>
            </a:r>
            <a:r>
              <a:rPr sz="1100">
                <a:solidFill>
                  <a:srgbClr val="E2E8F0"/>
                </a:solidFill>
              </a:rPr>
              <a:t>Built an entirely open-source GIS Command Center using Leaflet.js and free, high-performance ESRI World Dark Canvas vector tiles.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[LIFECYCLE]  </a:t>
            </a:r>
            <a:r>
              <a:rPr sz="2000" b="1">
                <a:solidFill>
                  <a:srgbClr val="FFFFFF"/>
                </a:solidFill>
              </a:rPr>
              <a:t>Project Activities Planned with Timeline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Chronological Lifecycle &amp; Milestones Across Academic Semesters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11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38BDF8"/>
                </a:solidFill>
              </a:rPr>
              <a:t>Phase 1: Inception &amp; Data Acquisition (Weeks 1-2) : </a:t>
            </a:r>
            <a:r>
              <a:rPr sz="950">
                <a:solidFill>
                  <a:srgbClr val="E2E8F0"/>
                </a:solidFill>
              </a:rPr>
              <a:t>Define hydrogeological scope, acquire 218k 6-hourly telemetry stream, and consult with industry expert on GSDA telemetry protocols.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728655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38BDF8"/>
                </a:solidFill>
              </a:rPr>
              <a:t>Phase 2: Data Cleaning &amp; Error Code Isolation (Weeks 3-4) : </a:t>
            </a:r>
            <a:r>
              <a:rPr sz="950">
                <a:solidFill>
                  <a:srgbClr val="E2E8F0"/>
                </a:solidFill>
              </a:rPr>
              <a:t>Identify 1.000m dummy probe disconnect artifact, filter out-of-range sensor spikes, and standardize sign conventions into true Depth_mbgl.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728655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818CF8"/>
                </a:solidFill>
              </a:rPr>
              <a:t>Phase 3: Spatial Sampling Audit &amp; Weighting Math (Weeks 5-6) : </a:t>
            </a:r>
            <a:r>
              <a:rPr sz="950">
                <a:solidFill>
                  <a:srgbClr val="E2E8F0"/>
                </a:solidFill>
              </a:rPr>
              <a:t>Quantify 23x district imbalance; formulate and validate Inverse Spatial Density Balancing Layer (W_i = 1 / N_district).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03320"/>
            <a:ext cx="10728655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818CF8"/>
                </a:solidFill>
              </a:rPr>
              <a:t>Phase 4: 12-Dimensional Feature Engineering (Weeks 7-8) : </a:t>
            </a:r>
            <a:r>
              <a:rPr sz="950">
                <a:solidFill>
                  <a:srgbClr val="E2E8F0"/>
                </a:solidFill>
              </a:rPr>
              <a:t>Synthesize spatial coordinates, elevation (RL_MSL), cyclical sin/cos DayOfYear, 6h/24h hydrological lags, and drawdown velocity.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728655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0B981"/>
                </a:solidFill>
              </a:rPr>
              <a:t>Phase 5: Dual-Head XGBoost Training &amp; Tuning (Weeks 9-10) : </a:t>
            </a:r>
            <a:r>
              <a:rPr sz="950">
                <a:solidFill>
                  <a:srgbClr val="E2E8F0"/>
                </a:solidFill>
              </a:rPr>
              <a:t>Train continuous XGBRegressor and 5-tier XGBClassifier; conduct confusion matrix, R², MAE, and sparse district generalization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F59E0B"/>
                </a:solidFill>
              </a:rPr>
              <a:t>Phase 6: 10-Month Recursive Forecaster &amp; GIS Center (Weeks 11-12) : </a:t>
            </a:r>
            <a:r>
              <a:rPr sz="950">
                <a:solidFill>
                  <a:srgbClr val="E2E8F0"/>
                </a:solidFill>
              </a:rPr>
              <a:t>Implement 43-week seasonal projection module; build FastAPI REST API and Leaflet Dark Canvas GIS dashboard with live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728655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F43F5E"/>
                </a:solidFill>
              </a:rPr>
              <a:t>Phase 7: Verification, Documentation &amp; GitHub Release (Weeks 13-14) : </a:t>
            </a:r>
            <a:r>
              <a:rPr sz="950">
                <a:solidFill>
                  <a:srgbClr val="E2E8F0"/>
                </a:solidFill>
              </a:rPr>
              <a:t>Compile executable Jupyter notebooks with pre-rendered outputs, generate 300 DPI architecture diagram, and publish repository.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[SCHEDULE]  </a:t>
            </a:r>
            <a:r>
              <a:rPr sz="2000" b="1">
                <a:solidFill>
                  <a:srgbClr val="FFFFFF"/>
                </a:solidFill>
              </a:rPr>
              <a:t>Gantt Chart : Execution Schedule Across Weeks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Task Progression &amp; Milestone Diamonds (Weeks 1 to 14)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12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224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56869"/>
                <a:gridCol w="556869"/>
                <a:gridCol w="556869"/>
                <a:gridCol w="556869"/>
                <a:gridCol w="556869"/>
                <a:gridCol w="556869"/>
                <a:gridCol w="556869"/>
                <a:gridCol w="556869"/>
                <a:gridCol w="556869"/>
                <a:gridCol w="556869"/>
                <a:gridCol w="556869"/>
                <a:gridCol w="556869"/>
                <a:gridCol w="556869"/>
                <a:gridCol w="556869"/>
              </a:tblGrid>
              <a:tr h="50800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Project Tasks / Milestones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W1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W2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W3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W4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W5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W6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W7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W8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W9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W10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W11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W12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W13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38BDF8"/>
                          </a:solidFill>
                        </a:rPr>
                        <a:t>W14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1. Literature Review &amp; Problem Formulation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2. DWLR Telemetry Ingestion &amp; Anomaly QA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◆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3. Spatial Imbalance Audit &amp; Weight Formulation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4. Feature Engineering &amp; Lag Generation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◆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5. Dual-Head XGBoost Model Training &amp; Tuning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◆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6. 10-Month Recursive Forecaster Development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7. FastAPI Backend &amp; GIS Dashboard Frontend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◆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</a:rPr>
                        <a:t>8. Verification, Final Testing &amp; Presentation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■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◆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[FINANCIAL BUDGET]  </a:t>
            </a:r>
            <a:r>
              <a:rPr sz="2000" b="1">
                <a:solidFill>
                  <a:srgbClr val="FFFFFF"/>
                </a:solidFill>
              </a:rPr>
              <a:t>Estimated Project Cost Breakdown (₹)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Budget Estimation for Prototype and Production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13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926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Total Budget Estimate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0B981"/>
                </a:solidFill>
              </a:rPr>
              <a:t>Cost-Effective FOSS Architecture</a:t>
            </a:r>
          </a:p>
          <a:p>
            <a:pPr algn="ctr">
              <a:spcBef>
                <a:spcPts val="2000"/>
              </a:spcBef>
            </a:pPr>
            <a:r>
              <a:rPr sz="3600" b="1">
                <a:solidFill>
                  <a:srgbClr val="10B981"/>
                </a:solidFill>
              </a:rPr>
              <a:t>₹ 27,500</a:t>
            </a:r>
          </a:p>
          <a:p>
            <a:pPr algn="ctr">
              <a:spcBef>
                <a:spcPts val="800"/>
              </a:spcBef>
            </a:pPr>
            <a:r>
              <a:rPr sz="1100">
                <a:solidFill>
                  <a:srgbClr val="E2E8F0"/>
                </a:solidFill>
              </a:rPr>
              <a:t>Annual Operating Cost
for State-Wide Command Center</a:t>
            </a:r>
          </a:p>
          <a:p>
            <a:pPr>
              <a:spcBef>
                <a:spcPts val="2000"/>
              </a:spcBef>
            </a:pPr>
            <a:r>
              <a:rPr b="1" sz="1000">
                <a:solidFill>
                  <a:srgbClr val="38BDF8"/>
                </a:solidFill>
              </a:rPr>
              <a:t>Zero License Fees: </a:t>
            </a:r>
            <a:r>
              <a:rPr sz="1000">
                <a:solidFill>
                  <a:srgbClr val="E2E8F0"/>
                </a:solidFill>
              </a:rPr>
              <a:t>Built 100% on Free &amp; Open-Source Software (FOSS).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</a:rPr>
              <a:t>High Return on Investment: </a:t>
            </a:r>
            <a:r>
              <a:rPr sz="1000">
                <a:solidFill>
                  <a:srgbClr val="E2E8F0"/>
                </a:solidFill>
              </a:rPr>
              <a:t>Saves Crores in prevented crop failure and optimized tanker deployments.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31920" y="1645920"/>
          <a:ext cx="75282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474720"/>
                <a:gridCol w="2011680"/>
                <a:gridCol w="1310335"/>
              </a:tblGrid>
              <a:tr h="679268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Item No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Component / Description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</a:rPr>
                        <a:t>Cost (INR)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Linux Cloud VPS (FastAPI REST Backend, 4 vCPU, 8GB RAM)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Compute Infrastructure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0B981"/>
                          </a:solidFill>
                        </a:rPr>
                        <a:t>₹ 12,000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IoT Telemetry Ingestion Data Bandwidth &amp; Gateway API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Network &amp; Data Feed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0B981"/>
                          </a:solidFill>
                        </a:rPr>
                        <a:t>₹ 8,000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FOSS Stack (Python, Scikit-Learn, XGBoost, Leaflet GIS)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Software Licenses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0B981"/>
                          </a:solidFill>
                        </a:rPr>
                        <a:t>₹ 0 (Free)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Custom Web Domain (.org / .in) &amp; SSL Security Certificate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Domain &amp; Hosting Security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0B981"/>
                          </a:solidFill>
                        </a:rPr>
                        <a:t>₹ 2,500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Hardware Maintenance &amp; Field Testing Contingency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E2E8F0"/>
                          </a:solidFill>
                        </a:rPr>
                        <a:t>Operational Maintenance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0B981"/>
                          </a:solidFill>
                        </a:rPr>
                        <a:t>₹ 5,000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0B981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0B981"/>
                          </a:solidFill>
                        </a:rPr>
                        <a:t>Complete State-Wide Prototyping &amp; Operational Budget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0B981"/>
                          </a:solidFill>
                        </a:rPr>
                        <a:t>Total Project Outlay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0B981"/>
                          </a:solidFill>
                        </a:rPr>
                        <a:t>₹ 27,500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[METHODOLOGY]  </a:t>
            </a:r>
            <a:r>
              <a:rPr sz="2000" b="1">
                <a:solidFill>
                  <a:srgbClr val="FFFFFF"/>
                </a:solidFill>
              </a:rPr>
              <a:t>Project Methodology &amp; Technical Workflow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Step-by-Step Engineering Execution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14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1: Telemetry ETL &amp; QA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Filter 9,222 uncalibrated 1.000m probe codes; clip sensor glitch spikes (-60m to +60m); standardize negative telemetry into positive Depth Below Ground Level (Depth_mbgl).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2: 12-D Feature Engineering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Construct spatial coordinates (Lat, Lon, RL_MSL), annual cyclical trigonometric signals (Sin &amp; Cos DayOfYear), 6h/24h hydrological lags, and 7-day rolling drawdown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52578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3: Spatial Density Balancing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Calculate inverse station frequencies: W_i = 1 / N_district_stations; scale sample weights from 0.397 (Sangli) to 8.942 (Dhule) to prevent gradient over-concentration.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52578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4: Dual-Head Model Training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Fit continuous XGBRegressor (reg:squarederror) and 5-class XGBClassifier (multi:softprob) on spatially weighted training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2578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5: 10-Month Recursive Forecaster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Simulate 43-week forward projection steps from June 2026 to March 2027 by recursively updating hydrological lags and cyclical temporal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846320"/>
            <a:ext cx="525780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6: Real-Time GIS Serving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Deploy FastAPI REST endpoints serving GeoJSON station data, historical hydrographs, and pinned critical alerts to an interactive Leaflet dark-canvas GIS interface.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[ARCHITECTURE]  </a:t>
            </a:r>
            <a:r>
              <a:rPr sz="2000" b="1">
                <a:solidFill>
                  <a:srgbClr val="FFFFFF"/>
                </a:solidFill>
              </a:rPr>
              <a:t>Complete System Architecture &amp; Block Diagram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4-Stage Spatially-Weighted Pipeline (Ingestion -&gt; Features -&gt; Dual-Head ML -&gt; Serving)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15 / 21</a:t>
            </a:r>
          </a:p>
        </p:txBody>
      </p:sp>
      <p:pic>
        <p:nvPicPr>
          <p:cNvPr id="6" name="Picture 5" descr="ml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[DATA SETUP]  </a:t>
            </a:r>
            <a:r>
              <a:rPr sz="2000" b="1">
                <a:solidFill>
                  <a:srgbClr val="FFFFFF"/>
                </a:solidFill>
              </a:rPr>
              <a:t>Test Data &amp; Experimental Validation Setup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Dataset Characteristics, Splitting Strategy &amp; Case Study Stations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16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Dataset Scale &amp; Quality Filtering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8BDF8"/>
                </a:solidFill>
              </a:rPr>
              <a:t>GSDA / CGWB Real Telemetry Stream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Total Raw Ingested Records: </a:t>
            </a:r>
            <a:r>
              <a:rPr sz="1100">
                <a:solidFill>
                  <a:srgbClr val="E2E8F0"/>
                </a:solidFill>
              </a:rPr>
              <a:t>218,791 observations across Maharashtra.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Geographic Reach: </a:t>
            </a:r>
            <a:r>
              <a:rPr sz="1100">
                <a:solidFill>
                  <a:srgbClr val="E2E8F0"/>
                </a:solidFill>
              </a:rPr>
              <a:t>34 Districts, 304 Tehsils, 1,016 Piezometers / Borewells.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Temporal Range: </a:t>
            </a:r>
            <a:r>
              <a:rPr sz="1100">
                <a:solidFill>
                  <a:srgbClr val="E2E8F0"/>
                </a:solidFill>
              </a:rPr>
              <a:t>January 1, 2026 to May 30, 2026 (Critical Pre-Monsoon Drawdown).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Sampling Frequency: </a:t>
            </a:r>
            <a:r>
              <a:rPr sz="1100">
                <a:solidFill>
                  <a:srgbClr val="E2E8F0"/>
                </a:solidFill>
              </a:rPr>
              <a:t>6-Hourly Automated Telemetry (00:00, 06:00, 12:00, 18:00).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Filtered Dummy Probe Glitches: </a:t>
            </a:r>
            <a:r>
              <a:rPr sz="1100">
                <a:solidFill>
                  <a:srgbClr val="E2E8F0"/>
                </a:solidFill>
              </a:rPr>
              <a:t>9,222 records logging exactly 1.000m isolated.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Verified Clean Retained Records: </a:t>
            </a:r>
            <a:r>
              <a:rPr sz="1100">
                <a:solidFill>
                  <a:srgbClr val="E2E8F0"/>
                </a:solidFill>
              </a:rPr>
              <a:t>204,450 clean records (93.4% retention rate).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Clean Depth Range: </a:t>
            </a:r>
            <a:r>
              <a:rPr sz="1100">
                <a:solidFill>
                  <a:srgbClr val="E2E8F0"/>
                </a:solidFill>
              </a:rPr>
              <a:t>0.00m to 58.74m bgl (State Median: 10.33m).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Validation Strategy &amp; Test Stations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18CF8"/>
                </a:solidFill>
              </a:rPr>
              <a:t>Spatially Stratified Train-Test Evaluation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Train-Test Split Partitioning: </a:t>
            </a:r>
            <a:r>
              <a:rPr sz="1100">
                <a:solidFill>
                  <a:srgbClr val="E2E8F0"/>
                </a:solidFill>
              </a:rPr>
              <a:t>80% Training Set (163,560 samples) and 20% Held-Out Test Set (40,890 samples).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Stratification Method: </a:t>
            </a:r>
            <a:r>
              <a:rPr sz="1100">
                <a:solidFill>
                  <a:srgbClr val="E2E8F0"/>
                </a:solidFill>
              </a:rPr>
              <a:t>Preserves class distribution across all 5 CGWB alert tiers and retains district metadata for spatial checks.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Representative Test Case 1 (AALEGAON): </a:t>
            </a:r>
            <a:r>
              <a:rPr sz="1100">
                <a:solidFill>
                  <a:srgbClr val="E2E8F0"/>
                </a:solidFill>
              </a:rPr>
              <a:t>Located in Akola district (Vidarbha basalt belt). High depletion stress with water level dropping past 14.5m.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Representative Test Case 2 (Dattwadi): </a:t>
            </a:r>
            <a:r>
              <a:rPr sz="1100">
                <a:solidFill>
                  <a:srgbClr val="E2E8F0"/>
                </a:solidFill>
              </a:rPr>
              <a:t>Located in Nagpur district. Demonstrates stable aquifer dynamics with depth hovering around 10.2m.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Generalization Check: </a:t>
            </a:r>
            <a:r>
              <a:rPr sz="1100">
                <a:solidFill>
                  <a:srgbClr val="E2E8F0"/>
                </a:solidFill>
              </a:rPr>
              <a:t>Explicitly evaluated on the 5 sparsest districts (Dhule, Hingoli, Nandurbar, Palghar, Washim) vs. dense clusters.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[RESULTS]  </a:t>
            </a:r>
            <a:r>
              <a:rPr sz="2000" b="1">
                <a:solidFill>
                  <a:srgbClr val="FFFFFF"/>
                </a:solidFill>
              </a:rPr>
              <a:t>Results &amp; Quantitative Model Evaluation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Empirical Performance Metrics &amp; Spatial Fairness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17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Model Head A: XGBRegressor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0B981"/>
                </a:solidFill>
              </a:rPr>
              <a:t>Continuous Depth Estimation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Mean Absolute Error (MAE): </a:t>
            </a:r>
            <a:r>
              <a:rPr sz="1100">
                <a:solidFill>
                  <a:srgbClr val="E2E8F0"/>
                </a:solidFill>
              </a:rPr>
              <a:t>0.364 meters (sub-meter accuracy across Maharashtra)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Root Mean Squared Error (RMSE): </a:t>
            </a:r>
            <a:r>
              <a:rPr sz="1100">
                <a:solidFill>
                  <a:srgbClr val="E2E8F0"/>
                </a:solidFill>
              </a:rPr>
              <a:t>0.612 meters (resilient to localized sensor noise)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Coefficient of Determination (R²): </a:t>
            </a:r>
            <a:r>
              <a:rPr sz="1100">
                <a:solidFill>
                  <a:srgbClr val="E2E8F0"/>
                </a:solidFill>
              </a:rPr>
              <a:t>0.9920 (explains 99.2% of variance in water depth)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Model Head B: XGBClassifier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59E0B"/>
                </a:solidFill>
              </a:rPr>
              <a:t>Multi-Class Risk Alert Detection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Overall Classification Accuracy: </a:t>
            </a:r>
            <a:r>
              <a:rPr sz="1100">
                <a:solidFill>
                  <a:srgbClr val="E2E8F0"/>
                </a:solidFill>
              </a:rPr>
              <a:t>96.71% across 40,890 held-out test observations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Weighted F1-Score / Macro F1: </a:t>
            </a:r>
            <a:r>
              <a:rPr sz="1100">
                <a:solidFill>
                  <a:srgbClr val="E2E8F0"/>
                </a:solidFill>
              </a:rPr>
              <a:t>0.9671 / 0.9592 (balanced across all risk classes)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Softmax Confidence Estimation: </a:t>
            </a:r>
            <a:r>
              <a:rPr sz="1100">
                <a:solidFill>
                  <a:srgbClr val="E2E8F0"/>
                </a:solidFill>
              </a:rPr>
              <a:t>Provides actionable confidence scores for civil administration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728655" cy="2286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Proof of Spatial Sampling Bias Mitigation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18CF8"/>
                </a:solidFill>
              </a:rPr>
              <a:t>Accuracy Maintained Across Sparse vs. Dense Districts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Dense District Clusters (Sangli, Nashik, Amravati): </a:t>
            </a:r>
            <a:r>
              <a:rPr sz="1100">
                <a:solidFill>
                  <a:srgbClr val="E2E8F0"/>
                </a:solidFill>
              </a:rPr>
              <a:t>Maintained 96.88% – 97.41% test accuracy without over-dominating the loss function.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Extremely Sparse Districts (Dhule, Hingoli, Nandurbar, Palghar, Washim): </a:t>
            </a:r>
            <a:r>
              <a:rPr sz="1100">
                <a:solidFill>
                  <a:srgbClr val="E2E8F0"/>
                </a:solidFill>
              </a:rPr>
              <a:t>Achieved 87.10% (Dhule) to 99.30% (Washim) test accuracy. Without inverse weighting, sparse accuracy collapsed below 72%!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818CF8"/>
                </a:solidFill>
              </a:rPr>
              <a:t>Current October 2026 Operational State: </a:t>
            </a:r>
            <a:r>
              <a:rPr sz="1100">
                <a:solidFill>
                  <a:srgbClr val="E2E8F0"/>
                </a:solidFill>
              </a:rPr>
              <a:t>Correctly modeled monsoon recharge, bringing state average water table from 14.25m (May) to 9.33m (October).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[VISUALIZATIONS]  </a:t>
            </a:r>
            <a:r>
              <a:rPr sz="2000" b="1">
                <a:solidFill>
                  <a:srgbClr val="FFFFFF"/>
                </a:solidFill>
              </a:rPr>
              <a:t>Empirical Visualizations &amp; Analytical Charts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Hydrographs, District Rankings &amp; Alert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18 / 21</a:t>
            </a:r>
          </a:p>
        </p:txBody>
      </p:sp>
      <p:pic>
        <p:nvPicPr>
          <p:cNvPr id="6" name="Picture 5" descr="01_statewide_aler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286000"/>
          </a:xfrm>
          <a:prstGeom prst="rect">
            <a:avLst/>
          </a:prstGeom>
        </p:spPr>
      </p:pic>
      <p:pic>
        <p:nvPicPr>
          <p:cNvPr id="7" name="Picture 6" descr="02_temporal_depletio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286000"/>
          </a:xfrm>
          <a:prstGeom prst="rect">
            <a:avLst/>
          </a:prstGeom>
        </p:spPr>
      </p:pic>
      <p:pic>
        <p:nvPicPr>
          <p:cNvPr id="8" name="Picture 7" descr="03_district_vulnerability_ra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1072865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[CONCLUSION]  </a:t>
            </a:r>
            <a:r>
              <a:rPr sz="2000" b="1">
                <a:solidFill>
                  <a:srgbClr val="FFFFFF"/>
                </a:solidFill>
              </a:rPr>
              <a:t>Conclusion &amp; Key Takeaways 📌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Summary of Deliverables, Innovation &amp; Future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19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Key Project Achievements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0B981"/>
                </a:solidFill>
              </a:rPr>
              <a:t>Delivered Innovations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1. End-to-End Operational Pipeline: </a:t>
            </a:r>
            <a:r>
              <a:rPr sz="1100">
                <a:solidFill>
                  <a:srgbClr val="E2E8F0"/>
                </a:solidFill>
              </a:rPr>
              <a:t>Successfully transformed 218k raw, noisy IoT telemetry logs into a sub-second decision support command center.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2. Eliminated Hardware Probe Glitches: </a:t>
            </a:r>
            <a:r>
              <a:rPr sz="1100">
                <a:solidFill>
                  <a:srgbClr val="E2E8F0"/>
                </a:solidFill>
              </a:rPr>
              <a:t>Isolated 9,222 uncalibrated 1.000m probe disconnect records, eliminating massive false-positive flood alerts.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3. Novel Spatial Sampling Equity: </a:t>
            </a:r>
            <a:r>
              <a:rPr sz="1100">
                <a:solidFill>
                  <a:srgbClr val="E2E8F0"/>
                </a:solidFill>
              </a:rPr>
              <a:t>First system to formulate and validate Inverse Spatial Density Weighting (W_i = 1/N) in Maharashtra groundwater ML.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4. Sub-Meter Accuracy (MAE 0.36m): </a:t>
            </a:r>
            <a:r>
              <a:rPr sz="1100">
                <a:solidFill>
                  <a:srgbClr val="E2E8F0"/>
                </a:solidFill>
              </a:rPr>
              <a:t>Dual-head XGBoost delivers continuous water table depths and 96.7% accurate 5-tier CGWB risk classification.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Future Scope &amp; Scaling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8BDF8"/>
                </a:solidFill>
              </a:rPr>
              <a:t>Roadmap for Institutional Deployment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1. Satellite InSAR Integration: </a:t>
            </a:r>
            <a:r>
              <a:rPr sz="1100">
                <a:solidFill>
                  <a:srgbClr val="E2E8F0"/>
                </a:solidFill>
              </a:rPr>
              <a:t>Incorporate Sentinel-1 InSAR land subsidence telemetry to detect unconfined aquifer compaction during severe drought.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2. Automated WhatsApp / SMS Advisories: </a:t>
            </a:r>
            <a:r>
              <a:rPr sz="1100">
                <a:solidFill>
                  <a:srgbClr val="E2E8F0"/>
                </a:solidFill>
              </a:rPr>
              <a:t>Build twilio/telecom pipelines to broadcast vernacular Marathi advisories directly to Sarpanchs and farmers.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3. Real-Time Hardware Webhooks: </a:t>
            </a:r>
            <a:r>
              <a:rPr sz="1100">
                <a:solidFill>
                  <a:srgbClr val="E2E8F0"/>
                </a:solidFill>
              </a:rPr>
              <a:t>Transition from batch telemetry ingestion to direct MQTT / CoAP real-time sensor push feeds.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4. Multi-State Expansion: </a:t>
            </a:r>
            <a:r>
              <a:rPr sz="1100">
                <a:solidFill>
                  <a:srgbClr val="E2E8F0"/>
                </a:solidFill>
              </a:rPr>
              <a:t>Extend the spatially-weighted dual-head architecture to neighboring hard-rock states (Karnataka, Telangana, Gujarat).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1100" b="1">
                <a:solidFill>
                  <a:srgbClr val="38BDF8"/>
                </a:solidFill>
              </a:rPr>
              <a:t>[BIBLIOGRAPHY]  </a:t>
            </a:r>
            <a:r>
              <a:rPr sz="2000" b="1">
                <a:solidFill>
                  <a:srgbClr val="FFFFFF"/>
                </a:solidFill>
              </a:rPr>
              <a:t>References &amp; Technical Bibliography 📖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Standards, Research Literature &amp; Open Source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</a:rPr>
              <a:t>20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Cited Works &amp; Data Standards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18CF8"/>
                </a:solidFill>
              </a:rPr>
              <a:t>Academic and Institutional Citations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[1] </a:t>
            </a:r>
            <a:r>
              <a:rPr sz="1100">
                <a:solidFill>
                  <a:srgbClr val="E2E8F0"/>
                </a:solidFill>
              </a:rPr>
              <a:t>Central Ground Water Board (CGWB), Ministry of Jal Shakti, Govt of India (2024). 'Dynamic Groundwater Resources of Maharashtra'.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[2] </a:t>
            </a:r>
            <a:r>
              <a:rPr sz="1100">
                <a:solidFill>
                  <a:srgbClr val="E2E8F0"/>
                </a:solidFill>
              </a:rPr>
              <a:t>Ground Water Surveys and Development Agency (GSDA), Water Resources Dept, Maharashtra (2024). 'Digital Water Level Recorder Telemetry Manual'.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[3] </a:t>
            </a:r>
            <a:r>
              <a:rPr sz="1100">
                <a:solidFill>
                  <a:srgbClr val="E2E8F0"/>
                </a:solidFill>
              </a:rPr>
              <a:t>Chen, T., &amp; Guestrin, C. (2016). 'XGBoost: A Scalable Tree Boosting System.' In Proceedings of the 22nd ACM SIGKDD International Conference on Knowledge Discovery and Data Mining (pp. 785-794).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[4] </a:t>
            </a:r>
            <a:r>
              <a:rPr sz="1100">
                <a:solidFill>
                  <a:srgbClr val="E2E8F0"/>
                </a:solidFill>
              </a:rPr>
              <a:t>Pedregosa, F., et al. (2011). 'Scikit-learn: Machine Learning in Python.' Journal of Machine Learning Research, 12, 2825-2830.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[5] </a:t>
            </a:r>
            <a:r>
              <a:rPr sz="1100">
                <a:solidFill>
                  <a:srgbClr val="E2E8F0"/>
                </a:solidFill>
              </a:rPr>
              <a:t>World Bank &amp; Ministry of Jal Shakti (2022). 'National Hydrology Project (NHP) Best Practices in Groundwater Telemetry QA/QC'.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[6] </a:t>
            </a:r>
            <a:r>
              <a:rPr sz="1100">
                <a:solidFill>
                  <a:srgbClr val="E2E8F0"/>
                </a:solidFill>
              </a:rPr>
              <a:t>Open Source Project Repository: MAHA JAL KHOJ. GitHub: https://github.com/vedsongire/MAHA_JAL_KHOJ (MIT License).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534095" cy="46634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38BDF8"/>
                </a:solidFill>
              </a:rPr>
              <a:t>THANKS!</a:t>
            </a:r>
          </a:p>
          <a:p>
            <a:pPr algn="ctr">
              <a:spcBef>
                <a:spcPts val="1200"/>
              </a:spcBef>
            </a:pPr>
            <a:r>
              <a:rPr sz="2000" b="1">
                <a:solidFill>
                  <a:srgbClr val="FFFFFF"/>
                </a:solidFill>
              </a:rPr>
              <a:t>Questions &amp; Answers / Discussion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E2E8F0"/>
                </a:solidFill>
              </a:rPr>
              <a:t>MAHA JAL KHOJ: Maharashtra Groundwater Intelligence System</a:t>
            </a:r>
          </a:p>
          <a:p>
            <a:pPr algn="ctr">
              <a:spcBef>
                <a:spcPts val="2400"/>
              </a:spcBef>
            </a:pPr>
            <a:r>
              <a:rPr sz="1200">
                <a:solidFill>
                  <a:srgbClr val="94A3B8"/>
                </a:solidFill>
              </a:rPr>
              <a:t>🔗 Project GitHub: https://github.com/vedsongire/MAHA_JAL_KHOJ
📧 Contact: vedvscoder@gmail.com
💧 Dedicated to Sustainable Water Governance in Maharashtra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